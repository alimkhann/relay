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36"/>
  </p:normalViewPr>
  <p:slideViewPr>
    <p:cSldViewPr snapToGrid="0" snapToObjects="1">
      <p:cViewPr>
        <p:scale>
          <a:sx n="146" d="100"/>
          <a:sy n="146" d="100"/>
        </p:scale>
        <p:origin x="832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24076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20040" y="4114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RELAY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320040" y="1005840"/>
            <a:ext cx="5943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Stop repeating yourself</a:t>
            </a:r>
            <a:endParaRPr lang="en-US" sz="4400" dirty="0"/>
          </a:p>
          <a:p>
            <a:pPr marL="0" indent="0" algn="l">
              <a:buNone/>
            </a:pPr>
            <a:r>
              <a:rPr lang="en-US" sz="44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to every AI.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320040" y="26060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keeps your project context synced across</a:t>
            </a:r>
            <a:endParaRPr lang="en-US" sz="15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l">
              <a:buNone/>
            </a:pPr>
            <a:r>
              <a:rPr lang="en-US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ChatGPT, Claude, Perplexity — and every AI agent.</a:t>
            </a:r>
            <a:endParaRPr lang="en-US" sz="15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" name="Shape 5"/>
          <p:cNvSpPr/>
          <p:nvPr/>
        </p:nvSpPr>
        <p:spPr>
          <a:xfrm>
            <a:off x="320040" y="3429000"/>
            <a:ext cx="4572000" cy="0"/>
          </a:xfrm>
          <a:prstGeom prst="line">
            <a:avLst/>
          </a:prstGeom>
          <a:noFill/>
          <a:ln w="19050">
            <a:solidFill>
              <a:srgbClr val="6366F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0040" y="356616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Alimkhan Yergebayev  ·  Founder &amp; CEO</a:t>
            </a:r>
            <a:endParaRPr lang="en-US" sz="1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0" name="Text 7"/>
          <p:cNvSpPr/>
          <p:nvPr/>
        </p:nvSpPr>
        <p:spPr>
          <a:xfrm>
            <a:off x="320040" y="385876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onrelay.app  ·  youtu.be/15aqzManX-0</a:t>
            </a:r>
            <a:endParaRPr lang="en-US" sz="1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2" name="Text 9"/>
          <p:cNvSpPr/>
          <p:nvPr/>
        </p:nvSpPr>
        <p:spPr>
          <a:xfrm>
            <a:off x="7863840" y="365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858000" y="485089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150" dirty="0">
                <a:solidFill>
                  <a:srgbClr val="505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2026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inspiring-sweet-gates/blob_bg_sm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29260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411480" y="50292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 is the new bottleneck.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411480" y="1188720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workers now use 3–5 AI tools daily — but each one starts from zero.</a:t>
            </a:r>
            <a:endParaRPr lang="en-US" sz="14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Re-explaining your stack, your goals, your constraints — every single session.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11480" y="2148840"/>
            <a:ext cx="26060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52400" dist="25400" dir="8100000" algn="bl" rotWithShape="0">
              <a:srgbClr val="6366F1">
                <a:alpha val="7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11480" y="2148840"/>
            <a:ext cx="54864" cy="14630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76072" y="2258568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repetition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76072" y="2532888"/>
            <a:ext cx="23500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Pasting the same context into ChatGPT, Claude, Perplexity every day. Time wasted, flow broken.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163824" y="2148840"/>
            <a:ext cx="26060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52400" dist="25400" dir="8100000" algn="bl" rotWithShape="0">
              <a:srgbClr val="6366F1">
                <a:alpha val="7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163824" y="2148840"/>
            <a:ext cx="54864" cy="14630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328416" y="2258568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cross-AI memory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328416" y="2532888"/>
            <a:ext cx="23500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you discovered in Claude yesterday? Gone when you open ChatGPT today.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916168" y="2148840"/>
            <a:ext cx="26060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52400" dist="25400" dir="8100000" algn="bl" rotWithShape="0">
              <a:srgbClr val="6366F1">
                <a:alpha val="7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916168" y="2148840"/>
            <a:ext cx="54864" cy="14630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080760" y="2258568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blindness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080760" y="2532888"/>
            <a:ext cx="23500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agents like Claude Code have zero context about your product or decisions.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11480" y="38404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36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2.5 hrs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1783080" y="391363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wasted per developer per week re-entering context across AI tools  (Stack Overflow Dev Survey 2024)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365760" y="48691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4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8412480" y="486918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inspiring-sweet-gates/blob_bg_sm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29260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411480" y="502920"/>
            <a:ext cx="8366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memory layer for every AI you use.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411480" y="1207008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is a browser extension that silently captures your AI conversations, builds a living project brief, and injects the right context into every tool — automatically.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02920" y="2121408"/>
            <a:ext cx="109728" cy="109728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206654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Auto-captures chats across ChatGPT, Claude &amp; Perplexity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02920" y="2505456"/>
            <a:ext cx="109728" cy="10972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245059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 smart project brief from your real conversations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02920" y="2889504"/>
            <a:ext cx="109728" cy="10972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283464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Inserts brief with one click — or MCP for agents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02920" y="3273552"/>
            <a:ext cx="109728" cy="10972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1520" y="321868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Syncs across all tools in real-time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11480" y="3703320"/>
            <a:ext cx="4434840" cy="713232"/>
          </a:xfrm>
          <a:prstGeom prst="rect">
            <a:avLst/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48640" y="376732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any MCP-compatible agent — Claude Code, Cursor, GitHub Copilot and more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365760" y="48691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4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8412480" y="486918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8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5DC6FC5-023B-7ABB-F2AA-5528CB82D4B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7496"/>
          <a:stretch>
            <a:fillRect/>
          </a:stretch>
        </p:blipFill>
        <p:spPr>
          <a:xfrm>
            <a:off x="5655503" y="1414260"/>
            <a:ext cx="2770754" cy="37292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inspiring-sweet-gates/blob_bg_sm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7557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2286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IN ACTION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411480" y="4297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 it. Use it. Ship faster.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11480" y="1051560"/>
            <a:ext cx="260604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52400" dist="25400" dir="8100000" algn="bl" rotWithShape="0">
              <a:srgbClr val="6366F1">
                <a:alpha val="7000"/>
              </a:srgbClr>
            </a:outerShdw>
          </a:effectLst>
        </p:spPr>
      </p:sp>
      <p:pic>
        <p:nvPicPr>
          <p:cNvPr id="6" name="Image 1" descr="/sessions/inspiring-sweet-gates/mnt/Relay/2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4632" y="1143000"/>
            <a:ext cx="2459736" cy="2651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11480" y="3831336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Auto-capture toasts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3246120" y="1051560"/>
            <a:ext cx="260604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52400" dist="25400" dir="8100000" algn="bl" rotWithShape="0">
              <a:srgbClr val="6366F1">
                <a:alpha val="7000"/>
              </a:srgbClr>
            </a:outerShdw>
          </a:effectLst>
        </p:spPr>
      </p:sp>
      <p:pic>
        <p:nvPicPr>
          <p:cNvPr id="9" name="Image 2" descr="/sessions/inspiring-sweet-gates/mnt/Relay/3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319272" y="1143000"/>
            <a:ext cx="2459736" cy="26517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246120" y="3831336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context in any AI</a:t>
            </a:r>
            <a:endParaRPr lang="en-US" sz="1000" dirty="0"/>
          </a:p>
        </p:txBody>
      </p:sp>
      <p:sp>
        <p:nvSpPr>
          <p:cNvPr id="11" name="Shape 6"/>
          <p:cNvSpPr/>
          <p:nvPr/>
        </p:nvSpPr>
        <p:spPr>
          <a:xfrm>
            <a:off x="6080760" y="1051560"/>
            <a:ext cx="260604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52400" dist="25400" dir="8100000" algn="bl" rotWithShape="0">
              <a:srgbClr val="6366F1">
                <a:alpha val="7000"/>
              </a:srgbClr>
            </a:outerShdw>
          </a:effectLst>
        </p:spPr>
      </p:sp>
      <p:pic>
        <p:nvPicPr>
          <p:cNvPr id="12" name="Image 3" descr="/sessions/inspiring-sweet-gates/mnt/Relay/5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153912" y="1143000"/>
            <a:ext cx="2459736" cy="265176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080760" y="3831336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for code agents</a:t>
            </a:r>
            <a:endParaRPr lang="en-US" sz="1000" dirty="0"/>
          </a:p>
        </p:txBody>
      </p:sp>
      <p:sp>
        <p:nvSpPr>
          <p:cNvPr id="14" name="Shape 8"/>
          <p:cNvSpPr/>
          <p:nvPr/>
        </p:nvSpPr>
        <p:spPr>
          <a:xfrm>
            <a:off x="411480" y="4041648"/>
            <a:ext cx="8321040" cy="658368"/>
          </a:xfrm>
          <a:prstGeom prst="rect">
            <a:avLst/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9"/>
          <p:cNvSpPr/>
          <p:nvPr/>
        </p:nvSpPr>
        <p:spPr>
          <a:xfrm>
            <a:off x="640080" y="411480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launch demo  →  youtu.be/15aqzManX-0</a:t>
            </a:r>
            <a:endParaRPr lang="en-US" sz="1250" dirty="0"/>
          </a:p>
        </p:txBody>
      </p:sp>
      <p:sp>
        <p:nvSpPr>
          <p:cNvPr id="16" name="Text 10"/>
          <p:cNvSpPr/>
          <p:nvPr/>
        </p:nvSpPr>
        <p:spPr>
          <a:xfrm>
            <a:off x="365760" y="48691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4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</a:t>
            </a:r>
            <a:endParaRPr lang="en-US" sz="800" dirty="0"/>
          </a:p>
        </p:txBody>
      </p:sp>
      <p:sp>
        <p:nvSpPr>
          <p:cNvPr id="17" name="Text 11"/>
          <p:cNvSpPr/>
          <p:nvPr/>
        </p:nvSpPr>
        <p:spPr>
          <a:xfrm>
            <a:off x="8412480" y="486918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inspiring-sweet-gates/blob_bg_sm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25603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411480" y="4572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do what no one else does.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11480" y="1078992"/>
            <a:ext cx="8321040" cy="475488"/>
          </a:xfrm>
          <a:prstGeom prst="rect">
            <a:avLst/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" y="1133856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differentiator: Relay is the only tool that automatically captures browser-based AI conversations — no manual input required.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11480" y="1737360"/>
            <a:ext cx="2743200" cy="347472"/>
          </a:xfrm>
          <a:prstGeom prst="rect">
            <a:avLst/>
          </a:prstGeom>
          <a:solidFill>
            <a:srgbClr val="1A1A2E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175564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154680" y="1737360"/>
            <a:ext cx="1463040" cy="347472"/>
          </a:xfrm>
          <a:prstGeom prst="rect">
            <a:avLst/>
          </a:prstGeom>
          <a:solidFill>
            <a:srgbClr val="6366F1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0" y="175564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617720" y="1737360"/>
            <a:ext cx="1463040" cy="347472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63440" y="175564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Supermemory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080760" y="1737360"/>
            <a:ext cx="1463040" cy="347472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26480" y="175564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Mem. Tools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7543800" y="1737360"/>
            <a:ext cx="1463040" cy="347472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589520" y="175564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AI Memory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11480" y="2084832"/>
            <a:ext cx="27432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" y="210312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Auto-captures browser AI chats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3154680" y="2084832"/>
            <a:ext cx="1463040" cy="347472"/>
          </a:xfrm>
          <a:prstGeom prst="rect">
            <a:avLst/>
          </a:prstGeom>
          <a:solidFill>
            <a:srgbClr val="EEF2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200400" y="210312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617720" y="2084832"/>
            <a:ext cx="14630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663440" y="210312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080760" y="2084832"/>
            <a:ext cx="14630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126480" y="210312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7543800" y="2084832"/>
            <a:ext cx="14630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0" y="210312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411480" y="2432304"/>
            <a:ext cx="2743200" cy="347472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57200" y="245059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across multiple AI tools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3154680" y="2432304"/>
            <a:ext cx="1463040" cy="347472"/>
          </a:xfrm>
          <a:prstGeom prst="rect">
            <a:avLst/>
          </a:prstGeom>
          <a:solidFill>
            <a:srgbClr val="EEF2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200400" y="245059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4617720" y="2432304"/>
            <a:ext cx="1463040" cy="347472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663440" y="245059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6080760" y="2432304"/>
            <a:ext cx="1463040" cy="347472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126480" y="245059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partial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7543800" y="2432304"/>
            <a:ext cx="1463040" cy="347472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589520" y="245059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411480" y="2779776"/>
            <a:ext cx="27432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57200" y="2798064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integration for agents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3154680" y="2779776"/>
            <a:ext cx="1463040" cy="347472"/>
          </a:xfrm>
          <a:prstGeom prst="rect">
            <a:avLst/>
          </a:prstGeom>
          <a:solidFill>
            <a:srgbClr val="EEF2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3200400" y="279806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4617720" y="2779776"/>
            <a:ext cx="14630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663440" y="279806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>
            <a:off x="6080760" y="2779776"/>
            <a:ext cx="14630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126480" y="279806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5" name="Shape 42"/>
          <p:cNvSpPr/>
          <p:nvPr/>
        </p:nvSpPr>
        <p:spPr>
          <a:xfrm>
            <a:off x="7543800" y="2779776"/>
            <a:ext cx="14630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7589520" y="279806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47" name="Shape 44"/>
          <p:cNvSpPr/>
          <p:nvPr/>
        </p:nvSpPr>
        <p:spPr>
          <a:xfrm>
            <a:off x="411480" y="3127248"/>
            <a:ext cx="2743200" cy="347472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457200" y="314553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Zero-config setup</a:t>
            </a:r>
            <a:endParaRPr lang="en-US" sz="1050" dirty="0"/>
          </a:p>
        </p:txBody>
      </p:sp>
      <p:sp>
        <p:nvSpPr>
          <p:cNvPr id="49" name="Shape 46"/>
          <p:cNvSpPr/>
          <p:nvPr/>
        </p:nvSpPr>
        <p:spPr>
          <a:xfrm>
            <a:off x="3154680" y="3127248"/>
            <a:ext cx="1463040" cy="347472"/>
          </a:xfrm>
          <a:prstGeom prst="rect">
            <a:avLst/>
          </a:prstGeom>
          <a:solidFill>
            <a:srgbClr val="EEF2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3200400" y="314553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51" name="Shape 48"/>
          <p:cNvSpPr/>
          <p:nvPr/>
        </p:nvSpPr>
        <p:spPr>
          <a:xfrm>
            <a:off x="4617720" y="3127248"/>
            <a:ext cx="1463040" cy="347472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4663440" y="314553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53" name="Shape 50"/>
          <p:cNvSpPr/>
          <p:nvPr/>
        </p:nvSpPr>
        <p:spPr>
          <a:xfrm>
            <a:off x="6080760" y="3127248"/>
            <a:ext cx="1463040" cy="347472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6126480" y="314553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55" name="Shape 52"/>
          <p:cNvSpPr/>
          <p:nvPr/>
        </p:nvSpPr>
        <p:spPr>
          <a:xfrm>
            <a:off x="7543800" y="3127248"/>
            <a:ext cx="1463040" cy="347472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7589520" y="314553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57" name="Shape 54"/>
          <p:cNvSpPr/>
          <p:nvPr/>
        </p:nvSpPr>
        <p:spPr>
          <a:xfrm>
            <a:off x="411480" y="3474720"/>
            <a:ext cx="27432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457200" y="349300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Project-level context briefs</a:t>
            </a:r>
            <a:endParaRPr lang="en-US" sz="1050" dirty="0"/>
          </a:p>
        </p:txBody>
      </p:sp>
      <p:sp>
        <p:nvSpPr>
          <p:cNvPr id="59" name="Shape 56"/>
          <p:cNvSpPr/>
          <p:nvPr/>
        </p:nvSpPr>
        <p:spPr>
          <a:xfrm>
            <a:off x="3154680" y="3474720"/>
            <a:ext cx="1463040" cy="347472"/>
          </a:xfrm>
          <a:prstGeom prst="rect">
            <a:avLst/>
          </a:prstGeom>
          <a:solidFill>
            <a:srgbClr val="EEF2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3200400" y="349300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61" name="Shape 58"/>
          <p:cNvSpPr/>
          <p:nvPr/>
        </p:nvSpPr>
        <p:spPr>
          <a:xfrm>
            <a:off x="4617720" y="3474720"/>
            <a:ext cx="14630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4663440" y="349300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basic</a:t>
            </a:r>
            <a:endParaRPr lang="en-US" sz="1200" dirty="0"/>
          </a:p>
        </p:txBody>
      </p:sp>
      <p:sp>
        <p:nvSpPr>
          <p:cNvPr id="63" name="Shape 60"/>
          <p:cNvSpPr/>
          <p:nvPr/>
        </p:nvSpPr>
        <p:spPr>
          <a:xfrm>
            <a:off x="6080760" y="3474720"/>
            <a:ext cx="14630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6126480" y="349300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65" name="Shape 62"/>
          <p:cNvSpPr/>
          <p:nvPr/>
        </p:nvSpPr>
        <p:spPr>
          <a:xfrm>
            <a:off x="7543800" y="3474720"/>
            <a:ext cx="14630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7589520" y="349300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67" name="Shape 64"/>
          <p:cNvSpPr/>
          <p:nvPr/>
        </p:nvSpPr>
        <p:spPr>
          <a:xfrm>
            <a:off x="411480" y="3822192"/>
            <a:ext cx="2743200" cy="347472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457200" y="384048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extension (no app switch)</a:t>
            </a:r>
            <a:endParaRPr lang="en-US" sz="1050" dirty="0"/>
          </a:p>
        </p:txBody>
      </p:sp>
      <p:sp>
        <p:nvSpPr>
          <p:cNvPr id="69" name="Shape 66"/>
          <p:cNvSpPr/>
          <p:nvPr/>
        </p:nvSpPr>
        <p:spPr>
          <a:xfrm>
            <a:off x="3154680" y="3822192"/>
            <a:ext cx="1463040" cy="347472"/>
          </a:xfrm>
          <a:prstGeom prst="rect">
            <a:avLst/>
          </a:prstGeom>
          <a:solidFill>
            <a:srgbClr val="EEF2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3200400" y="384048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71" name="Shape 68"/>
          <p:cNvSpPr/>
          <p:nvPr/>
        </p:nvSpPr>
        <p:spPr>
          <a:xfrm>
            <a:off x="4617720" y="3822192"/>
            <a:ext cx="1463040" cy="347472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4663440" y="384048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73" name="Shape 70"/>
          <p:cNvSpPr/>
          <p:nvPr/>
        </p:nvSpPr>
        <p:spPr>
          <a:xfrm>
            <a:off x="6080760" y="3822192"/>
            <a:ext cx="1463040" cy="347472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6126480" y="384048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75" name="Shape 72"/>
          <p:cNvSpPr/>
          <p:nvPr/>
        </p:nvSpPr>
        <p:spPr>
          <a:xfrm>
            <a:off x="7543800" y="3822192"/>
            <a:ext cx="1463040" cy="347472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7589520" y="384048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77" name="Text 74"/>
          <p:cNvSpPr/>
          <p:nvPr/>
        </p:nvSpPr>
        <p:spPr>
          <a:xfrm>
            <a:off x="365760" y="48691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4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</a:t>
            </a:r>
            <a:endParaRPr lang="en-US" sz="800" dirty="0"/>
          </a:p>
        </p:txBody>
      </p:sp>
      <p:sp>
        <p:nvSpPr>
          <p:cNvPr id="78" name="Text 75"/>
          <p:cNvSpPr/>
          <p:nvPr/>
        </p:nvSpPr>
        <p:spPr>
          <a:xfrm>
            <a:off x="8412480" y="486918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inspiring-sweet-gates/blob_bg_sm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25603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411480" y="4572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massive, fast-growing market.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11480" y="1188720"/>
            <a:ext cx="2606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52400" dist="25400" dir="8100000" algn="bl" rotWithShape="0">
              <a:srgbClr val="6366F1">
                <a:alpha val="7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11480" y="1188720"/>
            <a:ext cx="54864" cy="13716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21208" y="1280160"/>
            <a:ext cx="2404872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636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$1.3T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521208" y="1984248"/>
            <a:ext cx="240487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Software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TAM by 2030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64408" y="1188720"/>
            <a:ext cx="2606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52400" dist="25400" dir="8100000" algn="bl" rotWithShape="0">
              <a:srgbClr val="6366F1">
                <a:alpha val="7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64408" y="1188720"/>
            <a:ext cx="54864" cy="13716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374136" y="1280160"/>
            <a:ext cx="2404872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EA5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400M+</a:t>
            </a:r>
            <a:endParaRPr lang="en-US" sz="3400" dirty="0"/>
          </a:p>
        </p:txBody>
      </p:sp>
      <p:sp>
        <p:nvSpPr>
          <p:cNvPr id="12" name="Text 9"/>
          <p:cNvSpPr/>
          <p:nvPr/>
        </p:nvSpPr>
        <p:spPr>
          <a:xfrm>
            <a:off x="3374136" y="1984248"/>
            <a:ext cx="240487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active AI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users (2024)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117336" y="1188720"/>
            <a:ext cx="2606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52400" dist="25400" dir="8100000" algn="bl" rotWithShape="0">
              <a:srgbClr val="6366F1">
                <a:alpha val="7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117336" y="1188720"/>
            <a:ext cx="54864" cy="13716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27064" y="1280160"/>
            <a:ext cx="2404872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$47B</a:t>
            </a:r>
            <a:endParaRPr lang="en-US" sz="3400" dirty="0"/>
          </a:p>
        </p:txBody>
      </p:sp>
      <p:sp>
        <p:nvSpPr>
          <p:cNvPr id="16" name="Text 13"/>
          <p:cNvSpPr/>
          <p:nvPr/>
        </p:nvSpPr>
        <p:spPr>
          <a:xfrm>
            <a:off x="6227064" y="1984248"/>
            <a:ext cx="240487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developer tools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by 2028 (IDC)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11480" y="27889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Relay's beachhead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11480" y="3081528"/>
            <a:ext cx="4023360" cy="749808"/>
          </a:xfrm>
          <a:prstGeom prst="rect">
            <a:avLst/>
          </a:prstGeom>
          <a:solidFill>
            <a:srgbClr val="EEF2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548640" y="315468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069848" y="315468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~50M knowledge workers using 3+ AI tools daily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663440" y="3081528"/>
            <a:ext cx="4023360" cy="749808"/>
          </a:xfrm>
          <a:prstGeom prst="rect">
            <a:avLst/>
          </a:prstGeom>
          <a:solidFill>
            <a:srgbClr val="EFF6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4800600" y="315468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321808" y="315468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~2M power users: devs, PMs &amp; founders — Year 1–2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11480" y="416052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Product-led growth in developer tools is 3× more capital-efficient than sales-led (OpenView Partners, 2024)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365760" y="48691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4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8412480" y="486918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inspiring-sweet-gates/blob_bg_sm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25603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411480" y="4572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tailwinds converging.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11480" y="1188720"/>
            <a:ext cx="502920" cy="6858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KZ" dirty="0"/>
          </a:p>
        </p:txBody>
      </p:sp>
      <p:sp>
        <p:nvSpPr>
          <p:cNvPr id="6" name="Text 3"/>
          <p:cNvSpPr/>
          <p:nvPr/>
        </p:nvSpPr>
        <p:spPr>
          <a:xfrm>
            <a:off x="411480" y="118872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51560" y="1207008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 explosion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051560" y="1329394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hit 180M users. Claude, Perplexity, Gemini are all growing fast. Context fragmentation is a universal pain — not a niche one.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11480" y="2377439"/>
            <a:ext cx="502920" cy="685799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KZ" dirty="0"/>
          </a:p>
        </p:txBody>
      </p:sp>
      <p:sp>
        <p:nvSpPr>
          <p:cNvPr id="10" name="Text 7"/>
          <p:cNvSpPr/>
          <p:nvPr/>
        </p:nvSpPr>
        <p:spPr>
          <a:xfrm>
            <a:off x="411480" y="2377440"/>
            <a:ext cx="502920" cy="685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51560" y="2395728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becomes the standard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1051560" y="2502282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Anthropic's Model Context Protocol is rapidly becoming the inter-agent memory standard. Relay is built native-first on MCP.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11480" y="3566160"/>
            <a:ext cx="502920" cy="5029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11480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051560" y="3584448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extension renaissance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1051560" y="3584448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Browser-layer tools (Grammarly, Loom, Superhuman) command $10+ ARPU. The AI equivalent layer is wide open.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65760" y="48691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4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412480" y="486918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inspiring-sweet-gates/blob_bg_sm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25603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411480" y="45720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Freemium SaaS with a clear upgrade path.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11480" y="1188720"/>
            <a:ext cx="3840480" cy="2423160"/>
          </a:xfrm>
          <a:prstGeom prst="rect">
            <a:avLst/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48640" y="135331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48640" y="175564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 / forever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2121408"/>
            <a:ext cx="35204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22402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 projects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254203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6 AI analyses / day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40080" y="284378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200 captures / month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40080" y="314553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MCP access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572000" y="1188720"/>
            <a:ext cx="4160520" cy="2423160"/>
          </a:xfrm>
          <a:prstGeom prst="rect">
            <a:avLst/>
          </a:prstGeom>
          <a:solidFill>
            <a:srgbClr val="6366F1"/>
          </a:solidFill>
          <a:ln w="12700">
            <a:solidFill>
              <a:srgbClr val="4F46E5"/>
            </a:solidFill>
            <a:prstDash val="solid"/>
          </a:ln>
          <a:effectLst>
            <a:outerShdw blurRad="228600" dist="50800" dir="8100000" algn="bl" rotWithShape="0">
              <a:srgbClr val="6366F1">
                <a:alpha val="3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446520" y="1179576"/>
            <a:ext cx="2286000" cy="2926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46520" y="117957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4709160" y="135331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4709160" y="175564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 / month  ·  $90 / year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709160" y="2121408"/>
            <a:ext cx="3840480" cy="0"/>
          </a:xfrm>
          <a:prstGeom prst="line">
            <a:avLst/>
          </a:prstGeom>
          <a:noFill/>
          <a:ln w="9525">
            <a:solidFill>
              <a:srgbClr val="7880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00600" y="22402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10 projects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800600" y="25420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32 AI analyses / day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4800600" y="284378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2,000 captures / month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4800600" y="314553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Priority MCP + sync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411480" y="385876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to $1M ARR: ~9,300 Pro subscribers  ·  Target LTV:CAC &gt; 5× via PLG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365760" y="48691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4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8412480" y="486918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inspiring-sweet-gates/blob_bg_sm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20116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411480" y="4114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Distribution where developers already live.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11480" y="1188720"/>
            <a:ext cx="193852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52400" dist="25400" dir="8100000" algn="bl" rotWithShape="0">
              <a:srgbClr val="6366F1">
                <a:alpha val="7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11480" y="1188720"/>
            <a:ext cx="1938528" cy="2743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84632" y="1207008"/>
            <a:ext cx="1792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02920" y="1536192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community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02920" y="1975104"/>
            <a:ext cx="17556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Hacker News, Reddit r/devtools, Product Hunt. Founders + builders who already feel this pain daily.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02920" y="3136392"/>
            <a:ext cx="1755648" cy="274320"/>
          </a:xfrm>
          <a:prstGeom prst="rect">
            <a:avLst/>
          </a:prstGeom>
          <a:solidFill>
            <a:srgbClr val="6366F1">
              <a:alpha val="15000"/>
            </a:srgbClr>
          </a:solidFill>
          <a:ln w="6350">
            <a:solidFill>
              <a:srgbClr val="6366F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9496" y="3145536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1,000 users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532888" y="1188720"/>
            <a:ext cx="193852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52400" dist="25400" dir="8100000" algn="bl" rotWithShape="0">
              <a:srgbClr val="6366F1">
                <a:alpha val="7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532888" y="1188720"/>
            <a:ext cx="1938528" cy="2743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606040" y="1207008"/>
            <a:ext cx="1792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2624328" y="1536192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ecosystem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2624328" y="1975104"/>
            <a:ext cx="17556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Anthropic's MCP registry. First-mover advantage as agents proliferate — Relay appears wherever MCP is mentioned.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2624328" y="3136392"/>
            <a:ext cx="1755648" cy="274320"/>
          </a:xfrm>
          <a:prstGeom prst="rect">
            <a:avLst/>
          </a:prstGeom>
          <a:solidFill>
            <a:srgbClr val="0EA5E9">
              <a:alpha val="15000"/>
            </a:srgbClr>
          </a:solidFill>
          <a:ln w="6350">
            <a:solidFill>
              <a:srgbClr val="0EA5E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660904" y="3145536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10,000 users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654296" y="1188720"/>
            <a:ext cx="193852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52400" dist="25400" dir="8100000" algn="bl" rotWithShape="0">
              <a:srgbClr val="6366F1">
                <a:alpha val="7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654296" y="1188720"/>
            <a:ext cx="1938528" cy="2743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727448" y="1207008"/>
            <a:ext cx="1792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4745736" y="1536192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&amp; SEO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4745736" y="1975104"/>
            <a:ext cx="17556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"Best AI memory tools" and "MCP setup" queries are unclaimed. Own this search space early with developer-focused content.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745736" y="3136392"/>
            <a:ext cx="1755648" cy="274320"/>
          </a:xfrm>
          <a:prstGeom prst="rect">
            <a:avLst/>
          </a:prstGeom>
          <a:solidFill>
            <a:srgbClr val="8B5CF6">
              <a:alpha val="15000"/>
            </a:srgbClr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782312" y="3145536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100,000 users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6775704" y="1188720"/>
            <a:ext cx="193852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52400" dist="25400" dir="8100000" algn="bl" rotWithShape="0">
              <a:srgbClr val="6366F1">
                <a:alpha val="7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6775704" y="1188720"/>
            <a:ext cx="1938528" cy="2743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848856" y="1207008"/>
            <a:ext cx="1792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6867144" y="1536192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B2B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6867144" y="1975104"/>
            <a:ext cx="17556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team workspaces. One Pro user = 3–5 seat expansion. Enterprise MCP deployments.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6867144" y="3136392"/>
            <a:ext cx="1755648" cy="274320"/>
          </a:xfrm>
          <a:prstGeom prst="rect">
            <a:avLst/>
          </a:prstGeom>
          <a:solidFill>
            <a:srgbClr val="F97316">
              <a:alpha val="15000"/>
            </a:srgbClr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903720" y="3145536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$1M ARR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365760" y="48691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4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8412480" y="486918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inspiring-sweet-gates/blob_bg_sm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25603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411480" y="45720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by someone who felt the pain.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94360" y="1188720"/>
            <a:ext cx="1645920" cy="1645920"/>
          </a:xfrm>
          <a:prstGeom prst="ellipse">
            <a:avLst/>
          </a:prstGeom>
          <a:solidFill>
            <a:srgbClr val="6366F1"/>
          </a:solidFill>
          <a:ln w="25400">
            <a:solidFill>
              <a:srgbClr val="4F46E5"/>
            </a:solidFill>
            <a:prstDash val="solid"/>
          </a:ln>
          <a:effectLst>
            <a:outerShdw blurRad="254000" dist="38100" dir="8100000" algn="bl" rotWithShape="0">
              <a:srgbClr val="6366F1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94360" y="118872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AY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2423160" y="1207008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Alimkhan Yergebayev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2423160" y="170992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CEO  ·  Solo founder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450592" y="2286000"/>
            <a:ext cx="91440" cy="9144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651760" y="2231136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engineer — built Relay end-to-end (Next.js, Chrome MV3, MCP)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2450592" y="2743200"/>
            <a:ext cx="91440" cy="9144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651760" y="2688336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AI user — experienced the context-switching pain firsthand, daily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2450592" y="3200400"/>
            <a:ext cx="91440" cy="9144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651760" y="3145536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Product-minded builder — shipped and iterated fast from 0 to live product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411480" y="3657600"/>
            <a:ext cx="8321040" cy="822960"/>
          </a:xfrm>
          <a:prstGeom prst="rect">
            <a:avLst/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11480" y="3657600"/>
            <a:ext cx="54864" cy="822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4360" y="3730752"/>
            <a:ext cx="8001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for: advisors with GTM expertise, distribution in dev tools, or connections to MCP ecosystem players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365760" y="48691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4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8412480" y="486918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inspiring-sweet-gates/blob_bg_sm.png"/>
          <p:cNvPicPr>
            <a:picLocks noChangeAspect="1"/>
          </p:cNvPicPr>
          <p:nvPr/>
        </p:nvPicPr>
        <p:blipFill>
          <a:blip r:embed="rId3">
            <a:alphaModFix amt="28000"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20040" y="29260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808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&amp; ASK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320040" y="502920"/>
            <a:ext cx="7772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AI memory layer</a:t>
            </a:r>
            <a:endParaRPr lang="en-US" sz="4000" dirty="0"/>
          </a:p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the modern worker.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320040" y="2212848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C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knowledge worker will need a way to carry context across AI tools. Relay is the first browser-native product solving this — before the big players notice.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20040" y="3127248"/>
            <a:ext cx="8412480" cy="129844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20040" y="3127248"/>
            <a:ext cx="54864" cy="12984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30352" y="3218688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30352" y="3538728"/>
            <a:ext cx="7955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50" dirty="0">
                <a:solidFill>
                  <a:srgbClr val="D0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to capital, advisors, and strategic introductions — especially in dev-tools GTM and the MCP ecosystem. Let's talk: alimkhan@onrelay.app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320040" y="48508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7315200" y="485089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05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onrelay.app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935</Words>
  <Application>Microsoft Macintosh PowerPoint</Application>
  <PresentationFormat>On-screen Show (16:9)</PresentationFormat>
  <Paragraphs>180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Relay — Investor Pitch Deck</dc:title>
  <dc:subject>PptxGenJS Presentation</dc:subject>
  <dc:creator>Alimkhan Yergebayev</dc:creator>
  <cp:lastModifiedBy>Алимхан Ергебаев</cp:lastModifiedBy>
  <cp:revision>2</cp:revision>
  <dcterms:created xsi:type="dcterms:W3CDTF">2026-04-05T10:17:53Z</dcterms:created>
  <dcterms:modified xsi:type="dcterms:W3CDTF">2026-04-05T11:13:50Z</dcterms:modified>
</cp:coreProperties>
</file>